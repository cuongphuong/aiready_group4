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Chatbot Phân Loại Bug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DCDCDC"/>
                </a:solidFill>
              </a:defRPr>
            </a:pPr>
            <a:r>
              <a:t>AIReady - Group 4</a:t>
            </a:r>
          </a:p>
          <a:p>
            <a:pPr algn="ctr">
              <a:defRPr sz="2000">
                <a:solidFill>
                  <a:srgbClr val="DCDCDC"/>
                </a:solidFill>
              </a:defRPr>
            </a:pPr>
            <a:r>
              <a:t>Ngày: 22/11/2025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Bối Cảnh &amp; Vấn Đề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4864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1F4E78"/>
                </a:solidFill>
              </a:defRPr>
            </a:pPr>
            <a:r>
              <a:t>⚠️ Vấn đề thực tế: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Trong quá trình làm báo cáo chất lượng/bug cuối phase, mất nhiều thời gian để đi phân loại bug phát sinh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Dễ sai sót khi gán nhãn chủ quan (UI vs Functional vs Data...)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Không thống nhất quan điểm phân loại giữa nhiều người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Khó tracking và thống kê theo loại bug</a:t>
            </a:r>
          </a:p>
          <a:p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1F4E78"/>
                </a:solidFill>
              </a:defRPr>
            </a:pPr>
            <a:r>
              <a:t>🎯 Mong muốn: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Giảm hiệu suất làm việc của team QA/Dev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Delay trong việc phân công và xử lý bug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Khó khăn trong việc ưu tiên bug quan trọng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Mục Tiêu &amp; Phạm 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4864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1F4E78"/>
                </a:solidFill>
              </a:defRPr>
            </a:pPr>
            <a:r>
              <a:t>🎯 Mục tiêu: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Tự Động hóa việc phân loại bug bao đầu.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Tăng tốc độ xử lý và độ chính xác.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Chuẩn hóa quy trình quản lý lỗi.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Dễ dàng mở rộng thêm gợi ý fix và best practices.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1F4E78"/>
                </a:solidFill>
              </a:defRPr>
            </a:pPr>
            <a:r>
              <a:t>📦 Phạm vi: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Input: Mô tả bug bằng tiếng Việt/tự nhiên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Output: Nhãn phân loại phù hợp nhất (theo chuẩn dự án/Jira)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Version 1: Console app, xử lý từng bug một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Có thể mở rộng: UI web, batch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Kiến Trúc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6949440" cy="530352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1F4E78"/>
                </a:solidFill>
              </a:defRPr>
            </a:pPr>
            <a:r>
              <a:t>📋 Luồng xử lý:</a:t>
            </a:r>
          </a:p>
          <a:p>
            <a:pPr>
              <a:spcBef>
                <a:spcPts val="1200"/>
              </a:spcBef>
              <a:defRPr sz="2000" b="1">
                <a:solidFill>
                  <a:srgbClr val="1F4E78"/>
                </a:solidFill>
              </a:defRPr>
            </a:pPr>
            <a:r>
              <a:t>1️⃣ USER nhập mô tả bug</a:t>
            </a:r>
          </a:p>
          <a:p>
            <a:pPr>
              <a:spcBef>
                <a:spcPts val="200"/>
              </a:spcBef>
              <a:defRPr sz="1500">
                <a:solidFill>
                  <a:srgbClr val="505050"/>
                </a:solidFill>
              </a:defRPr>
            </a:pPr>
            <a:r>
              <a:t>   (tiếng Việt, ngôn ngữ tự nhiên)</a:t>
            </a:r>
          </a:p>
          <a:p>
            <a:pPr>
              <a:spcBef>
                <a:spcPts val="1200"/>
              </a:spcBef>
              <a:defRPr sz="2000" b="1">
                <a:solidFill>
                  <a:srgbClr val="1F4E78"/>
                </a:solidFill>
              </a:defRPr>
            </a:pPr>
            <a:r>
              <a:t>2️⃣ PROMPT BUILDER</a:t>
            </a:r>
          </a:p>
          <a:p>
            <a:pPr lvl="1">
              <a:spcBef>
                <a:spcPts val="400"/>
              </a:spcBef>
              <a:defRPr sz="1600">
                <a:solidFill>
                  <a:srgbClr val="3C3C3C"/>
                </a:solidFill>
              </a:defRPr>
            </a:pPr>
            <a:r>
              <a:t> Thêm định nghĩa 5 nhóm bug</a:t>
            </a:r>
          </a:p>
          <a:p>
            <a:pPr lvl="1">
              <a:spcBef>
                <a:spcPts val="400"/>
              </a:spcBef>
              <a:defRPr sz="1600">
                <a:solidFill>
                  <a:srgbClr val="3C3C3C"/>
                </a:solidFill>
              </a:defRPr>
            </a:pPr>
            <a:r>
              <a:t> Ghép 5 ví dụ few-shot</a:t>
            </a:r>
          </a:p>
          <a:p>
            <a:pPr>
              <a:spcBef>
                <a:spcPts val="1200"/>
              </a:spcBef>
              <a:defRPr sz="2000" b="1">
                <a:solidFill>
                  <a:srgbClr val="1F4E78"/>
                </a:solidFill>
              </a:defRPr>
            </a:pPr>
            <a:r>
              <a:t>3️⃣ OpenAI GPT-5</a:t>
            </a:r>
          </a:p>
          <a:p>
            <a:pPr lvl="1">
              <a:spcBef>
                <a:spcPts val="400"/>
              </a:spcBef>
              <a:defRPr sz="1600">
                <a:solidFill>
                  <a:srgbClr val="3C3C3C"/>
                </a:solidFill>
              </a:defRPr>
            </a:pPr>
            <a:r>
              <a:t> Phân tích ngữ nghĩa &amp; ngữ cảnh</a:t>
            </a:r>
          </a:p>
          <a:p>
            <a:pPr lvl="1">
              <a:spcBef>
                <a:spcPts val="400"/>
              </a:spcBef>
              <a:defRPr sz="1600">
                <a:solidFill>
                  <a:srgbClr val="3C3C3C"/>
                </a:solidFill>
              </a:defRPr>
            </a:pPr>
            <a:r>
              <a:t> So khớp với ví dụ mẫu</a:t>
            </a:r>
          </a:p>
          <a:p>
            <a:pPr>
              <a:spcBef>
                <a:spcPts val="1200"/>
              </a:spcBef>
              <a:defRPr sz="2000" b="1">
                <a:solidFill>
                  <a:srgbClr val="1F4E78"/>
                </a:solidFill>
              </a:defRPr>
            </a:pPr>
            <a:r>
              <a:t>4️⃣ OUTPUT: 1 nhãn duy nhất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Công Nghệ Sử Dụng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4864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1F4E78"/>
                </a:solidFill>
              </a:defRPr>
            </a:pPr>
            <a:r>
              <a:t>💻 Technology Stack:</a:t>
            </a:r>
          </a:p>
          <a:p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1F4E78"/>
                </a:solidFill>
              </a:defRPr>
            </a:pPr>
            <a:r>
              <a:t>🐍 Ngôn ngữ: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Python 3.8+ (console app)</a:t>
            </a:r>
          </a:p>
          <a:p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1F4E78"/>
                </a:solidFill>
              </a:defRPr>
            </a:pPr>
            <a:r>
              <a:t>🤖 AI/ML: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OpenAI API (GPT-5 model)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Few-shot learning technique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Function Definition: ép trả về JSON chuẩn (label, reason, team, severity, tags)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Batch Processing: phân loại nhiều bug trong một lần gọi LLM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Retry &amp; Backoff: tự động retry khi lỗi API tạm thời</a:t>
            </a:r>
          </a:p>
          <a:p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1F4E78"/>
                </a:solidFill>
              </a:defRPr>
            </a:pPr>
            <a:r>
              <a:t>📚 Thư viện: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openai - Gọi OpenAI API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python-dotenv - Quản lý environment variables</a:t>
            </a:r>
          </a:p>
          <a:p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1F4E78"/>
                </a:solidFill>
              </a:defRPr>
            </a:pPr>
            <a:r>
              <a:t>🔧 Tools: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VS Code - Development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Git - Version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Thách Thức &amp; Giải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4864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1F4E78"/>
                </a:solidFill>
              </a:defRPr>
            </a:pPr>
            <a:r>
              <a:t>⚡ Thách thức gặp phải:</a:t>
            </a:r>
          </a:p>
          <a:p/>
          <a:p>
            <a:pPr>
              <a:spcBef>
                <a:spcPts val="600"/>
              </a:spcBef>
              <a:defRPr sz="1600">
                <a:solidFill>
                  <a:srgbClr val="323232"/>
                </a:solidFill>
              </a:defRPr>
            </a:pPr>
            <a:r>
              <a:t>1️⃣ Mô tả bug mơ hồ, thiếu thông tin</a:t>
            </a:r>
          </a:p>
          <a:p>
            <a:pPr>
              <a:spcBef>
                <a:spcPts val="600"/>
              </a:spcBef>
              <a:defRPr sz="1600">
                <a:solidFill>
                  <a:srgbClr val="323232"/>
                </a:solidFill>
              </a:defRPr>
            </a:pPr>
            <a:r>
              <a:t>   → Giải pháp: Few-shot examples đa dạng, prompt rõ ràng</a:t>
            </a:r>
          </a:p>
          <a:p/>
          <a:p>
            <a:pPr>
              <a:spcBef>
                <a:spcPts val="600"/>
              </a:spcBef>
              <a:defRPr sz="1600">
                <a:solidFill>
                  <a:srgbClr val="323232"/>
                </a:solidFill>
              </a:defRPr>
            </a:pPr>
            <a:r>
              <a:t>2️⃣ Bug có thể thuộc nhiều nhóm</a:t>
            </a:r>
          </a:p>
          <a:p>
            <a:pPr>
              <a:spcBef>
                <a:spcPts val="600"/>
              </a:spcBef>
              <a:defRPr sz="1600">
                <a:solidFill>
                  <a:srgbClr val="323232"/>
                </a:solidFill>
              </a:defRPr>
            </a:pPr>
            <a:r>
              <a:t>   → Giải pháp: Yêu cầu model chọn nhãn phù hợp NHẤT</a:t>
            </a:r>
          </a:p>
          <a:p/>
          <a:p>
            <a:pPr>
              <a:spcBef>
                <a:spcPts val="600"/>
              </a:spcBef>
              <a:defRPr sz="1600">
                <a:solidFill>
                  <a:srgbClr val="323232"/>
                </a:solidFill>
              </a:defRPr>
            </a:pPr>
            <a:r>
              <a:t>3️⃣ Ngôn ngữ Việt pha lẫn tiếng Anh, viết tắt</a:t>
            </a:r>
          </a:p>
          <a:p>
            <a:pPr>
              <a:spcBef>
                <a:spcPts val="600"/>
              </a:spcBef>
              <a:defRPr sz="1600">
                <a:solidFill>
                  <a:srgbClr val="323232"/>
                </a:solidFill>
              </a:defRPr>
            </a:pPr>
            <a:r>
              <a:t>   → Giải pháp: GPT-5 hiểu tốt multilingual context</a:t>
            </a:r>
          </a:p>
          <a:p/>
          <a:p>
            <a:pPr>
              <a:spcBef>
                <a:spcPts val="600"/>
              </a:spcBef>
              <a:defRPr sz="1600">
                <a:solidFill>
                  <a:srgbClr val="323232"/>
                </a:solidFill>
              </a:defRPr>
            </a:pPr>
            <a:r>
              <a:t>4️⃣ Chi phí API khi xử lý nhiều</a:t>
            </a:r>
          </a:p>
          <a:p>
            <a:pPr>
              <a:spcBef>
                <a:spcPts val="600"/>
              </a:spcBef>
              <a:defRPr sz="1600">
                <a:solidFill>
                  <a:srgbClr val="323232"/>
                </a:solidFill>
              </a:defRPr>
            </a:pPr>
            <a:r>
              <a:t>   → Giải pháp: Cache kết quả, batch processing (future)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Demo: Excel Output &amp; Chat UI</a:t>
            </a:r>
          </a:p>
        </p:txBody>
      </p:sp>
      <p:pic>
        <p:nvPicPr>
          <p:cNvPr id="3" name="Picture 2" descr="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931920" cy="5486400"/>
          </a:xfrm>
          <a:prstGeom prst="rect">
            <a:avLst/>
          </a:prstGeom>
        </p:spPr>
      </p:pic>
      <p:pic>
        <p:nvPicPr>
          <p:cNvPr id="4" name="Picture 3" descr="sample_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3931920" cy="2651760"/>
          </a:xfrm>
          <a:prstGeom prst="rect">
            <a:avLst/>
          </a:prstGeom>
        </p:spPr>
      </p:pic>
      <p:pic>
        <p:nvPicPr>
          <p:cNvPr id="5" name="Picture 4" descr="sample_out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931920"/>
            <a:ext cx="39319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Đánh Giá &amp; So Sánh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4864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1F4E78"/>
                </a:solidFill>
              </a:defRPr>
            </a:pPr>
            <a:r>
              <a:t>✅ Kết quả đạt được:</a:t>
            </a:r>
          </a:p>
          <a:p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1F4E78"/>
                </a:solidFill>
              </a:defRPr>
            </a:pPr>
            <a:r>
              <a:t>📈 Hiệu suất: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Thời gian phân loại: &lt; 3 giây/bug (vs 2-5 phút thủ công)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Độ chính xác: ~90% trên tập test 50 mẫu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Batch + heuristic: giảm 40–50% số lần gọi LLM</a:t>
            </a:r>
          </a:p>
          <a:p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1F4E78"/>
                </a:solidFill>
              </a:defRPr>
            </a:pPr>
            <a:r>
              <a:t>⚖️ So sánh với phương pháp thủ công:</a:t>
            </a:r>
          </a:p>
          <a:p/>
          <a:p>
            <a:pPr>
              <a:spcBef>
                <a:spcPts val="600"/>
              </a:spcBef>
              <a:defRPr sz="1600">
                <a:solidFill>
                  <a:srgbClr val="323232"/>
                </a:solidFill>
              </a:defRPr>
            </a:pPr>
            <a:r>
              <a:t>🔹 Thủ công: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Thời gian: 2–5 phút/bug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Độ nhất quán: Trung bình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Khả năng mở rộng: Thấp</a:t>
            </a:r>
          </a:p>
          <a:p/>
          <a:p>
            <a:pPr>
              <a:spcBef>
                <a:spcPts val="600"/>
              </a:spcBef>
              <a:defRPr sz="1600">
                <a:solidFill>
                  <a:srgbClr val="323232"/>
                </a:solidFill>
              </a:defRPr>
            </a:pPr>
            <a:r>
              <a:t>🔹 AI Bot: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Thời gian: &lt; 3 giây/bug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Độ nhất quán: Cao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Khả năng mở rộng: Cao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Độ bền: Retry &amp; backoff khi lỗi API tạm thời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4864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1F4E78"/>
                </a:solidFill>
              </a:defRPr>
            </a:pPr>
            <a:r>
              <a:t>📝 Tóm tắt: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Giải pháp AI đơn giản, hiệu quả cho bài toán phân loại bug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Tiết kiệm 70% thời gian so với phương pháp thủ công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Dễ triển khai và mở rộng</a:t>
            </a:r>
          </a:p>
          <a:p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1F4E78"/>
                </a:solidFill>
              </a:defRPr>
            </a:pPr>
            <a:r>
              <a:t>💎 Giá trị mang lại: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Tăng năng suất làm việc cho team QA/Dev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Chuẩn hóa quy trình quản lý bug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Nền tảng cho hệ thống triage tự động</a:t>
            </a:r>
          </a:p>
          <a:p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1F4E78"/>
                </a:solidFill>
              </a:defRPr>
            </a:pPr>
            <a:r>
              <a:t>⭐ Điểm nổi bật: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Sử dụng GPT-5 - model AI tiên tiến nhất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Few-shot learning - không cần training data lớn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Dễ customize cho domain cụ thể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Cập Nhật Nội Dung Trình Bày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4864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23232"/>
                </a:solidFill>
              </a:defRPr>
            </a:pPr>
            <a:r>
              <a:t>📄 1/ Bối cảnh &amp; Vấn đề (update):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Báo cáo chất lượng/bug cuối phase tốn thời gian phân loại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Phát sinh do đọc hiểu khác nhau, nhiều người phân loại</a:t>
            </a:r>
          </a:p>
          <a:p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1F4E78"/>
                </a:solidFill>
              </a:defRPr>
            </a:pPr>
            <a:r>
              <a:t>🎯 2/ Mục tiêu &amp; Phạm vi: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Loại bỏ mô tả cố định 5 nhãn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Áp theo nội dung phân loại của Jira (chuẩn dự án)</a:t>
            </a:r>
          </a:p>
          <a:p/>
          <a:p>
            <a:pPr>
              <a:spcBef>
                <a:spcPts val="600"/>
              </a:spcBef>
              <a:defRPr sz="1600">
                <a:solidFill>
                  <a:srgbClr val="323232"/>
                </a:solidFill>
              </a:defRPr>
            </a:pPr>
            <a:r>
              <a:t>🧩 3/ Kiến trúc hệ thống: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Update theo file (flow User → Prompt → AI → Output)</a:t>
            </a:r>
          </a:p>
          <a:p/>
          <a:p>
            <a:pPr>
              <a:spcBef>
                <a:spcPts val="600"/>
              </a:spcBef>
              <a:defRPr sz="1600">
                <a:solidFill>
                  <a:srgbClr val="323232"/>
                </a:solidFill>
              </a:defRPr>
            </a:pPr>
            <a:r>
              <a:t>⚙️ 4/ Công nghệ sử dụng (tham chiếu thư mục Server):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Function Definition: JSON strict (label, reason, team, severity, tags)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Batch Processing: classify nhiều bug trong 1 lần gọi LLM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Retry &amp; Backoff: tự động retry khi lỗi API tạm thời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Async/Await + Thread Pool: đảm bảo FastAPI responsive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Type-Safe API (Pydantic), CORS, .env</a:t>
            </a:r>
          </a:p>
          <a:p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1F4E78"/>
                </a:solidFill>
              </a:defRPr>
            </a:pPr>
            <a:r>
              <a:t>📊 5/ Đánh giá &amp; So sánh: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Bổ sung số liệu cụ thể hơn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Có thể hiển thị dạng bảng/compare nhanh</a:t>
            </a:r>
          </a:p>
          <a:p/>
          <a:p>
            <a:pPr>
              <a:spcBef>
                <a:spcPts val="600"/>
              </a:spcBef>
              <a:defRPr sz="1600">
                <a:solidFill>
                  <a:srgbClr val="323232"/>
                </a:solidFill>
              </a:defRPr>
            </a:pPr>
            <a:r>
              <a:t>🎬 6/ Demo: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Thêm hình ảnh design kiến trúc + hình Excel output</a:t>
            </a:r>
          </a:p>
          <a:p>
            <a:pPr lvl="1"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Người demo trình bày minh hoạ cụ thể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🙏 Cảm Ơn!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000"/>
              </a:spcBef>
              <a:defRPr sz="2000">
                <a:solidFill>
                  <a:srgbClr val="DCDCDC"/>
                </a:solidFill>
              </a:defRPr>
            </a:pPr>
            <a:r>
              <a:t>📧 Email: group4@aiready.edu.vn</a:t>
            </a:r>
          </a:p>
          <a:p>
            <a:pPr algn="ctr">
              <a:spcBef>
                <a:spcPts val="1000"/>
              </a:spcBef>
              <a:defRPr sz="2000">
                <a:solidFill>
                  <a:srgbClr val="DCDCDC"/>
                </a:solidFill>
              </a:defRPr>
            </a:pPr>
            <a:r>
              <a:t>💻 GitHub: github.com/cuongphuong/AIReady_Group4</a:t>
            </a:r>
          </a:p>
          <a:p>
            <a:pPr algn="ctr">
              <a:spcBef>
                <a:spcPts val="1000"/>
              </a:spcBef>
              <a:defRPr sz="2000">
                <a:solidFill>
                  <a:srgbClr val="DCDCDC"/>
                </a:solidFill>
              </a:defRPr>
            </a:pPr>
          </a:p>
          <a:p>
            <a:pPr algn="ctr">
              <a:spcBef>
                <a:spcPts val="1000"/>
              </a:spcBef>
              <a:defRPr sz="2000">
                <a:solidFill>
                  <a:srgbClr val="DCDCDC"/>
                </a:solidFill>
              </a:defRPr>
            </a:pPr>
            <a:r>
              <a:t>💬 Mời câu hỏi &amp; trao đổi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B4B4B4"/>
                </a:solidFill>
              </a:defRPr>
            </a:pPr>
            <a:r>
              <a:t>AIReady - Group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