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Chatbot Phân Loại Bug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DCDCDC"/>
                </a:solidFill>
              </a:defRPr>
            </a:pPr>
            <a:r>
              <a:t>AIReady - Group 4</a:t>
            </a:r>
          </a:p>
          <a:p>
            <a:pPr algn="ctr">
              <a:defRPr sz="2000">
                <a:solidFill>
                  <a:srgbClr val="DCDCDC"/>
                </a:solidFill>
              </a:defRPr>
            </a:pPr>
            <a:r>
              <a:t>Ngày: 22/11/2025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Bối Cảnh &amp; Vấn Đề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548640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⚠️ Vấn đề thực tế: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QA phải đọc và phân loại bug thủ công → mất thời gian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Dễ sai sót khi gán nhãn chủ quan (UI vs Functional vs Data...)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Thiếu tính nhất quán trong quy trình xử lý lỗi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Khó tracking và thống kê theo loại bug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📊 Tác động: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Giảm hiệu suất làm việc của team QA/Dev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Delay trong việc phân công và xử lý bug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Khó khăn trong việc ưu tiên bug quan trọng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Mục Tiêu &amp; Phạm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548640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🎯 Mục tiêu: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Tự động phân loại bug vào 5 nhóm chính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Tăng tốc độ xử lý bug report lên 70%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Đạt độ chính xác phân loại ≥ 85%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Chuẩn hóa quy trình quản lý lỗi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📦 Phạm vi: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Input: Mô tả bug bằng tiếng Việt/tự nhiên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Output: 1 trong 5 nhãn (UI, Performance, Security, Functional, Data)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Version 1: Console app, xử lý từng bug một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Có thể mở rộng: UI web, batch processing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Kiến Trúc Hệ Thống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6949440" cy="530352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>
              <a:spcBef>
                <a:spcPts val="1200"/>
              </a:spcBef>
              <a:defRPr sz="2000" b="1">
                <a:solidFill>
                  <a:srgbClr val="1F4E78"/>
                </a:solidFill>
              </a:defRPr>
            </a:pPr>
            <a:r>
              <a:t>📋 Luồng xử lý:</a:t>
            </a:r>
          </a:p>
          <a:p>
            <a:pPr>
              <a:spcBef>
                <a:spcPts val="1200"/>
              </a:spcBef>
              <a:defRPr sz="2000" b="1">
                <a:solidFill>
                  <a:srgbClr val="1F4E78"/>
                </a:solidFill>
              </a:defRPr>
            </a:pPr>
            <a:r>
              <a:t>1️⃣ USER nhập mô tả bug</a:t>
            </a:r>
          </a:p>
          <a:p>
            <a:pPr>
              <a:spcBef>
                <a:spcPts val="200"/>
              </a:spcBef>
              <a:defRPr sz="1500">
                <a:solidFill>
                  <a:srgbClr val="505050"/>
                </a:solidFill>
              </a:defRPr>
            </a:pPr>
            <a:r>
              <a:t>   (tiếng Việt, ngôn ngữ tự nhiên)</a:t>
            </a:r>
          </a:p>
          <a:p>
            <a:pPr>
              <a:spcBef>
                <a:spcPts val="1200"/>
              </a:spcBef>
              <a:defRPr sz="2000" b="1">
                <a:solidFill>
                  <a:srgbClr val="1F4E78"/>
                </a:solidFill>
              </a:defRPr>
            </a:pPr>
            <a:r>
              <a:t>2️⃣ PROMPT BUILDER</a:t>
            </a:r>
          </a:p>
          <a:p>
            <a:pPr lvl="1">
              <a:spcBef>
                <a:spcPts val="400"/>
              </a:spcBef>
              <a:defRPr sz="1600">
                <a:solidFill>
                  <a:srgbClr val="3C3C3C"/>
                </a:solidFill>
              </a:defRPr>
            </a:pPr>
            <a:r>
              <a:t> Thêm định nghĩa 5 nhóm bug</a:t>
            </a:r>
          </a:p>
          <a:p>
            <a:pPr lvl="1">
              <a:spcBef>
                <a:spcPts val="400"/>
              </a:spcBef>
              <a:defRPr sz="1600">
                <a:solidFill>
                  <a:srgbClr val="3C3C3C"/>
                </a:solidFill>
              </a:defRPr>
            </a:pPr>
            <a:r>
              <a:t> Ghép 5 ví dụ few-shot</a:t>
            </a:r>
          </a:p>
          <a:p>
            <a:pPr>
              <a:spcBef>
                <a:spcPts val="1200"/>
              </a:spcBef>
              <a:defRPr sz="2000" b="1">
                <a:solidFill>
                  <a:srgbClr val="1F4E78"/>
                </a:solidFill>
              </a:defRPr>
            </a:pPr>
            <a:r>
              <a:t>3️⃣ OpenAI GPT-5</a:t>
            </a:r>
          </a:p>
          <a:p>
            <a:pPr lvl="1">
              <a:spcBef>
                <a:spcPts val="400"/>
              </a:spcBef>
              <a:defRPr sz="1600">
                <a:solidFill>
                  <a:srgbClr val="3C3C3C"/>
                </a:solidFill>
              </a:defRPr>
            </a:pPr>
            <a:r>
              <a:t> Phân tích ngữ nghĩa &amp; ngữ cảnh</a:t>
            </a:r>
          </a:p>
          <a:p>
            <a:pPr lvl="1">
              <a:spcBef>
                <a:spcPts val="400"/>
              </a:spcBef>
              <a:defRPr sz="1600">
                <a:solidFill>
                  <a:srgbClr val="3C3C3C"/>
                </a:solidFill>
              </a:defRPr>
            </a:pPr>
            <a:r>
              <a:t> So khớp với ví dụ mẫu</a:t>
            </a:r>
          </a:p>
          <a:p>
            <a:pPr>
              <a:spcBef>
                <a:spcPts val="1200"/>
              </a:spcBef>
              <a:defRPr sz="2000" b="1">
                <a:solidFill>
                  <a:srgbClr val="1F4E78"/>
                </a:solidFill>
              </a:defRPr>
            </a:pPr>
            <a:r>
              <a:t>4️⃣ OUTPUT: 1 nhãn duy nhất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Công Nghệ Sử Dụng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548640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💻 Technology Stack: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🐍 Ngôn ngữ: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Python 3.8+ (console app)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🤖 AI/ML: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OpenAI API (GPT-5 model)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Few-shot learning technique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📚 Thư viện: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openai - Gọi OpenAI API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python-dotenv - Quản lý environment variables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🔧 Tools: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VS Code - Development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Git - Version control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Thách Thức &amp; Giải Pháp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548640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⚡ Thách thức gặp phải:</a:t>
            </a:r>
          </a:p>
          <a:p/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1️⃣ Mô tả bug mơ hồ, thiếu thông tin</a:t>
            </a:r>
          </a:p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   → Giải pháp: Few-shot examples đa dạng, prompt rõ ràng</a:t>
            </a:r>
          </a:p>
          <a:p/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2️⃣ Bug có thể thuộc nhiều nhóm</a:t>
            </a:r>
          </a:p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   → Giải pháp: Yêu cầu model chọn nhãn phù hợp NHẤT</a:t>
            </a:r>
          </a:p>
          <a:p/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3️⃣ Ngôn ngữ Việt pha lẫn tiếng Anh, viết tắt</a:t>
            </a:r>
          </a:p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   → Giải pháp: GPT-5 hiểu tốt multilingual context</a:t>
            </a:r>
          </a:p>
          <a:p/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4️⃣ Chi phí API khi xử lý nhiều</a:t>
            </a:r>
          </a:p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   → Giải pháp: Cache kết quả, batch processing (future)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Đánh Giá &amp; So Sánh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548640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✅ Kết quả đạt được: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📈 Hiệu suất: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Thời gian phân loại: &lt; 3 giây/bug (vs 2-5 phút thủ công)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Độ chính xác: ~90% trên tập test 50 mẫu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⚖️ So sánh với phương pháp thủ công:</a:t>
            </a:r>
          </a:p>
          <a:p/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🔹 Thủ công: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Thời gian: 2-5 phút/bug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Độ nhất quán: Trung bình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Khả năng mở rộng: Thấp</a:t>
            </a:r>
          </a:p>
          <a:p/>
          <a:p>
            <a:pPr>
              <a:spcBef>
                <a:spcPts val="600"/>
              </a:spcBef>
              <a:defRPr sz="1600">
                <a:solidFill>
                  <a:srgbClr val="323232"/>
                </a:solidFill>
              </a:defRPr>
            </a:pPr>
            <a:r>
              <a:t>🔹 AI Bot: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Thời gian: &lt; 3 giây/bug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Độ nhất quán: Cao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Khả năng mở rộng: Cao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Hướng Phát Triển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548640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🚀 Roadmap tương lai: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📅 Giai đoạn 1 (1-2 tháng):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Xây dựng UI web/chatbot thân thiện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Xử lý batch qua file CSV/Excel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Lưu lịch sử phân loại vào database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📅 Giai đoạn 2 (3-4 tháng):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Gợi ý hướng fix cho từng loại bug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Thống kê, dashboard theo nhãn/thời gian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Tích hợp với Jira/GitHub Issues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📅 Giai đoạn 3 (6+ tháng):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Fine-tune model riêng với dữ liệu nội bộ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Tự động gán severity &amp; priority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Predict time-to-fix dựa trên lịch sử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548640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📝 Tóm tắt: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Giải pháp AI đơn giản, hiệu quả cho bài toán phân loại bug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Tiết kiệm 70% thời gian so với phương pháp thủ công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Dễ triển khai và mở rộng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💎 Giá trị mang lại: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Tăng năng suất làm việc cho team QA/Dev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Chuẩn hóa quy trình quản lý bug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Nền tảng cho hệ thống triage tự động</a:t>
            </a:r>
          </a:p>
          <a:p/>
          <a:p>
            <a:pPr>
              <a:spcBef>
                <a:spcPts val="1000"/>
              </a:spcBef>
              <a:spcAft>
                <a:spcPts val="400"/>
              </a:spcAft>
              <a:defRPr sz="2000" b="1">
                <a:solidFill>
                  <a:srgbClr val="1F4E78"/>
                </a:solidFill>
              </a:defRPr>
            </a:pPr>
            <a:r>
              <a:t>⭐ Điểm nổi bật: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Sử dụng GPT-5 - model AI tiên tiến nhất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Few-shot learning - không cần training data lớn</a:t>
            </a:r>
          </a:p>
          <a:p>
            <a:pPr lvl="1">
              <a:spcBef>
                <a:spcPts val="400"/>
              </a:spcBef>
              <a:defRPr sz="1600">
                <a:solidFill>
                  <a:srgbClr val="323232"/>
                </a:solidFill>
              </a:defRPr>
            </a:pPr>
            <a:r>
              <a:t> Dễ customize cho domain cụ thể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🙏 Cảm Ơn!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6400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1000"/>
              </a:spcBef>
              <a:defRPr sz="2000">
                <a:solidFill>
                  <a:srgbClr val="DCDCDC"/>
                </a:solidFill>
              </a:defRPr>
            </a:pPr>
            <a:r>
              <a:t>📧 Email: group4@aiready.edu.vn</a:t>
            </a:r>
          </a:p>
          <a:p>
            <a:pPr algn="ctr">
              <a:spcBef>
                <a:spcPts val="1000"/>
              </a:spcBef>
              <a:defRPr sz="2000">
                <a:solidFill>
                  <a:srgbClr val="DCDCDC"/>
                </a:solidFill>
              </a:defRPr>
            </a:pPr>
            <a:r>
              <a:t>💻 GitHub: github.com/cuongphuong/AIReady_Group4</a:t>
            </a:r>
          </a:p>
          <a:p>
            <a:pPr algn="ctr">
              <a:spcBef>
                <a:spcPts val="1000"/>
              </a:spcBef>
              <a:defRPr sz="2000">
                <a:solidFill>
                  <a:srgbClr val="DCDCDC"/>
                </a:solidFill>
              </a:defRPr>
            </a:pPr>
          </a:p>
          <a:p>
            <a:pPr algn="ctr">
              <a:spcBef>
                <a:spcPts val="1000"/>
              </a:spcBef>
              <a:defRPr sz="2000">
                <a:solidFill>
                  <a:srgbClr val="DCDCDC"/>
                </a:solidFill>
              </a:defRPr>
            </a:pPr>
            <a:r>
              <a:t>💬 Mời câu hỏi &amp; trao đổi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B4B4B4"/>
                </a:solidFill>
              </a:defRPr>
            </a:pPr>
            <a:r>
              <a:t>AIReady - Group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